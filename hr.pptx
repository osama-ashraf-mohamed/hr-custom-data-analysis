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662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9" y="1780663"/>
            <a:ext cx="5753091" cy="893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تقرير </a:t>
            </a: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تحليل</a:t>
            </a: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بيانات
الموارد البشرية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3048009" y="3061934"/>
            <a:ext cx="5753091" cy="26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1700" dirty="0">
                <a:solidFill>
                  <a:srgbClr val="4ECDC4"/>
                </a:solidFill>
                <a:latin typeface="Inter" pitchFamily="34" charset="0"/>
                <a:ea typeface="Inter" pitchFamily="34" charset="-122"/>
              </a:rPr>
              <a:t>رؤى شاملة لدعم اتخاذ القرارات الإدارية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24167" y="3424479"/>
            <a:ext cx="1138132" cy="230319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بواسطة: </a:t>
            </a:r>
            <a:r>
              <a:rPr lang="en-US" sz="1050" dirty="0" err="1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osama</a:t>
            </a: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ashraf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28" y="0"/>
            <a:ext cx="3047981" cy="5143500"/>
          </a:xfrm>
          <a:prstGeom prst="rect">
            <a:avLst/>
          </a:prstGeom>
          <a:solidFill>
            <a:srgbClr val="0A192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770381"/>
            <a:ext cx="8715375" cy="723916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تحليل شامل لـ 1000 موظف
لدعم استراتيجية الشركة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579144" y="2556904"/>
            <a:ext cx="39790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نظرة عامة على القوى العاملة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9144" y="2892661"/>
            <a:ext cx="39790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فهم دقيق لتركيبة الموظفين الحالية وتوزيعهم الجغرافي والوظيفي لتحديد نقاط القوة.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71475" y="2556904"/>
            <a:ext cx="39790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الأداء المالي والوظيفي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71475" y="2892661"/>
            <a:ext cx="39790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تحليل العلاقة بين الرواتب وتقييمات الأداء لضمان كفاءة الإنفاق وتحفيز الكوادر.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9144" y="4028796"/>
            <a:ext cx="39790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تقييم أنماط العمل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9144" y="4364552"/>
            <a:ext cx="39790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دراسة تأثير العمل عن بعد والهجين على الإنتاجية لتطوير سياسات عمل مرنة ومستدامة.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1475" y="4028796"/>
            <a:ext cx="3979069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فرص الاحتفاظ بالموظفين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1475" y="4364552"/>
            <a:ext cx="397906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تحديد العوامل المؤدية لترك العمل ووضع استراتيجيات لخفض معدل الدوران المرتفع.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627506"/>
            <a:ext cx="8715375" cy="37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56.5% معدل دوران الموظفين يتطلب </a:t>
            </a: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تدخلاً</a:t>
            </a: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استراتيجياً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693694" y="1366661"/>
            <a:ext cx="17930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1000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93694" y="1895298"/>
            <a:ext cx="1793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إجمالي الموظفين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86288" y="1366661"/>
            <a:ext cx="17930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43.5%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4586288" y="1895298"/>
            <a:ext cx="1793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الموظفون النشطون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478881" y="1366661"/>
            <a:ext cx="17930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FF6B6B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56.5%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478881" y="1895298"/>
            <a:ext cx="1793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معدل الدوران الكلي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71475" y="1366661"/>
            <a:ext cx="17930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14,558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371475" y="1895298"/>
            <a:ext cx="17930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متوسط الراتب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589805"/>
            <a:ext cx="2857500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698943"/>
            <a:ext cx="8715375" cy="723916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قسم الموارد البشرية يمثل </a:t>
            </a: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الكتلة</a:t>
            </a: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 الأكبر
من القوى العاملة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895994" y="2075371"/>
            <a:ext cx="25336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368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895994" y="2525427"/>
            <a:ext cx="2533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موظف في الموارد البشرية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895994" y="2912976"/>
            <a:ext cx="25336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139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895994" y="3363032"/>
            <a:ext cx="2533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موظف في قسم المبيعات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895994" y="3750580"/>
            <a:ext cx="25336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132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5895994" y="4200637"/>
            <a:ext cx="253363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موظف في قسم الـ IT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89" y="2075371"/>
            <a:ext cx="523815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663364"/>
            <a:ext cx="8715375" cy="620426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قسم المبيعات والمالية يتصدران الرواتب
بينما يتفوق قسم الـ IT في تقييم الأداء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4657725" y="2245872"/>
            <a:ext cx="4000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متوسط الرواتب حسب القسم</a:t>
            </a:r>
            <a:endParaRPr lang="en-US" sz="1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526264"/>
            <a:ext cx="4000500" cy="2500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475" y="2245872"/>
            <a:ext cx="40005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متوسط تقييم الأداء (من 5)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2526264"/>
            <a:ext cx="4000500" cy="25003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770381"/>
            <a:ext cx="8715375" cy="377026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توازن مثالي بين العمل في الموقع، الهجين، وعن بعد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2303552"/>
            <a:ext cx="3571875" cy="25003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475" y="2128531"/>
            <a:ext cx="3850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توزيع متقارب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371475" y="2407137"/>
            <a:ext cx="38504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توزيع متساوٍ تقريباً بين الأنماط الثلاثة (حوالي 32% لكل نمط)، مما يعكس مرونة عالية في سياسات الشركة.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71475" y="3078649"/>
            <a:ext cx="3850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ميزة تنافسية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71475" y="3357256"/>
            <a:ext cx="38504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المرونة في أنماط العمل تعد ميزة تنافسية أساسية لجذب المواهب والاحتفاظ بها في سوق العمل الحالي.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371475" y="4028768"/>
            <a:ext cx="385048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ECDC4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التوجه المستقبلي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71475" y="4307374"/>
            <a:ext cx="38504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الحاجة لتقييم أداء كل نمط عمل بشكل منفصل لضمان استمرارية الإنتاجية العالية.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" y="770381"/>
            <a:ext cx="8715375" cy="723916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</a:rPr>
              <a:t>استراتيجيات مقترحة لتعزيز
الاستقرار والإنتاجية المؤسسية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6743700" y="2849798"/>
            <a:ext cx="1957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برنامج الاحتفاظ بالمواهب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43700" y="3364148"/>
            <a:ext cx="1957388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إطلاق مبادرات فورية لخفض معدل الدوران (56.5%) من خلال تحسين بيئة العمل وتقديم حوافز مرتبطة بالاستمرارية.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600575" y="2849798"/>
            <a:ext cx="1957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مراجعة هيكل الرواتب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00575" y="3364148"/>
            <a:ext cx="19573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إجراء دراسة مقارنة للسوق لضمان تنافسية الرواتب، خاصة في الأقسام الحيوية مثل المالية والمبيعات.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457450" y="2849798"/>
            <a:ext cx="19573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التدريب المتخصص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57450" y="3364148"/>
            <a:ext cx="19573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تكثيف برامج التطوير المهني للأقسام ذات الأداء الأقل لرفع الكفاءة العامة وتحقيق التوازن في الإنتاجية.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8613" y="2849798"/>
            <a:ext cx="19431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192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تعزيز ثقافة المرونة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8613" y="3364148"/>
            <a:ext cx="19431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تطوير سياسات العمل الهجين وعن بعد لدعم التوازن بين الحياة والعمل، مما يزيد من ولاء الموظفين ورضاهم.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287" y="1953006"/>
            <a:ext cx="4847481" cy="4875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</a:rPr>
              <a:t>نحو بيئة عمل أكثر استدامة وإنتاجية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2103862" y="2748502"/>
            <a:ext cx="493633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4ECD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البيانات توفر خارطة طريق واضحة للتحسين المستمر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584654" y="3296785"/>
            <a:ext cx="98226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الخطوات القادمة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57828" y="3527171"/>
            <a:ext cx="16359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بدء تنفيذ التوصيات الاستراتيجية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6800" y="3296785"/>
            <a:ext cx="6429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تواصل معنا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34248" y="3527171"/>
            <a:ext cx="1468041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شكراً لكم، ونرحب </a:t>
            </a:r>
            <a:r>
              <a:rPr lang="en-US" sz="95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</a:rPr>
              <a:t>بأسئلتكم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353</Words>
  <Application>Microsoft Office PowerPoint</Application>
  <PresentationFormat>On-screen Show (16:9)</PresentationFormat>
  <Paragraphs>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201098091976</cp:lastModifiedBy>
  <cp:revision>2</cp:revision>
  <dcterms:created xsi:type="dcterms:W3CDTF">2026-06-29T07:08:57Z</dcterms:created>
  <dcterms:modified xsi:type="dcterms:W3CDTF">2026-07-04T15:21:57Z</dcterms:modified>
</cp:coreProperties>
</file>